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846678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SLID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3" name="Text 1"/>
          <p:cNvSpPr/>
          <p:nvPr/>
        </p:nvSpPr>
        <p:spPr>
          <a:xfrm>
            <a:off x="182880" y="914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AcademiTrack - Winter 2026</a:t>
            </a:r>
            <a:endParaRPr lang="en-US" sz="14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</a:rPr>
              <a:t>AcademiTrack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21031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CCCCCC"/>
                </a:solidFill>
              </a:rPr>
              <a:t>Academic Project Management and Progress Tracking System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32004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Team ID: (Your Team ID Here)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Instructor: Prof. Swarnalatha P.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4157003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</a:rPr>
              <a:t>Team Members: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</a:rPr>
              <a:t>• Srujan Rajput (23BCT0104) - Team Leader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</a:rPr>
              <a:t>• Aditya Raj Kar (23BCT0079)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</a:rPr>
              <a:t>• Rakshan Singh (23BCB0062)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21434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3366"/>
                </a:solidFill>
              </a:rPr>
              <a:t>Individual Member Contributions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06437" y="3045655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3366"/>
                </a:solidFill>
              </a:rPr>
              <a:t>Srujan Rajput (23BCT0104)
</a:t>
            </a:r>
            <a:r>
              <a:rPr lang="en-US" sz="1600" dirty="0">
                <a:solidFill>
                  <a:srgbClr val="333333"/>
                </a:solidFill>
              </a:rPr>
              <a:t>• Agile Project Leadership
• Backend Auth &amp; RBAC Middleware
• Selenium Testing Automation
</a:t>
            </a:r>
            <a:r>
              <a:rPr lang="en-US" sz="1600" b="1" dirty="0">
                <a:solidFill>
                  <a:srgbClr val="003366"/>
                </a:solidFill>
              </a:rPr>
              <a:t>Aditya Raj Kar (23BCT0079)
</a:t>
            </a:r>
            <a:r>
              <a:rPr lang="en-US" sz="1600" dirty="0">
                <a:solidFill>
                  <a:srgbClr val="333333"/>
                </a:solidFill>
              </a:rPr>
              <a:t>• System Architecture Design
• UI/UX Workflow Planning
• Student Interfaces &amp; API Integration
</a:t>
            </a:r>
            <a:r>
              <a:rPr lang="en-US" sz="1600" b="1" dirty="0">
                <a:solidFill>
                  <a:srgbClr val="003366"/>
                </a:solidFill>
              </a:rPr>
              <a:t>Rakshan Singh (23BCB0062)
</a:t>
            </a:r>
            <a:r>
              <a:rPr lang="en-US" sz="1600" dirty="0">
                <a:solidFill>
                  <a:srgbClr val="333333"/>
                </a:solidFill>
              </a:rPr>
              <a:t>• UML Behavioral Modeling (Sequence/Activity)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333333"/>
                </a:solidFill>
              </a:rPr>
              <a:t>• Database Schema Design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333333"/>
                </a:solidFill>
              </a:rPr>
              <a:t>• Faculty Dashboard Logic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59059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3366"/>
                </a:solidFill>
              </a:rPr>
              <a:t>Problem Statement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3059723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buSzPct val="100000"/>
            </a:pPr>
            <a:r>
              <a:rPr lang="en-US" sz="1800" dirty="0">
                <a:solidFill>
                  <a:srgbClr val="333333"/>
                </a:solidFill>
              </a:rPr>
              <a:t>Current academic project tracking relies on fragmented manual workflows.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endParaRPr lang="en-US" sz="1800" dirty="0"/>
          </a:p>
          <a:p>
            <a:pPr>
              <a:buSzPct val="100000"/>
            </a:pPr>
            <a:r>
              <a:rPr lang="en-US" sz="1800" dirty="0">
                <a:solidFill>
                  <a:srgbClr val="333333"/>
                </a:solidFill>
              </a:rPr>
              <a:t>• Inefficient Tracking: Spreadsheets and emails result in lost deliverables.</a:t>
            </a:r>
            <a:endParaRPr lang="en-US" sz="1800" dirty="0"/>
          </a:p>
          <a:p>
            <a:pPr>
              <a:buSzPct val="100000"/>
            </a:pPr>
            <a:r>
              <a:rPr lang="en-US" sz="1800" dirty="0">
                <a:solidFill>
                  <a:srgbClr val="333333"/>
                </a:solidFill>
              </a:rPr>
              <a:t>• Lack of Transparency: Supervisors cannot see real-time progress.</a:t>
            </a:r>
            <a:endParaRPr lang="en-US" sz="1800" dirty="0"/>
          </a:p>
          <a:p>
            <a:pPr>
              <a:buSzPct val="100000"/>
            </a:pPr>
            <a:r>
              <a:rPr lang="en-US" sz="1800" dirty="0">
                <a:solidFill>
                  <a:srgbClr val="333333"/>
                </a:solidFill>
              </a:rPr>
              <a:t>• Coordination Issues: Grading and feedback trails are often disconnected from submissions.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endParaRPr lang="en-US" sz="1800" dirty="0"/>
          </a:p>
          <a:p>
            <a:pPr>
              <a:buSzPct val="100000"/>
            </a:pPr>
            <a:r>
              <a:rPr lang="en-US" sz="1800" dirty="0">
                <a:solidFill>
                  <a:srgbClr val="333333"/>
                </a:solidFill>
              </a:rPr>
              <a:t>Our Solution: AcademiTrack centralizes milestones, file uploads, and faculty grading into a single, immutable digital audit trail.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87923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3366"/>
                </a:solidFill>
              </a:rPr>
              <a:t>System Architecture &amp; Technology Stack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83810" y="3038621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buSzPct val="100000"/>
            </a:pPr>
            <a:r>
              <a:rPr lang="en-US" sz="1800" dirty="0">
                <a:solidFill>
                  <a:srgbClr val="333333"/>
                </a:solidFill>
              </a:rPr>
              <a:t>A modern, decoupled Three-Tier Architecture:</a:t>
            </a:r>
            <a:endParaRPr lang="en-US" sz="1800" dirty="0"/>
          </a:p>
          <a:p>
            <a:pPr>
              <a:buSzPct val="100000"/>
            </a:pPr>
            <a:endParaRPr lang="en-US" sz="1800" dirty="0"/>
          </a:p>
          <a:p>
            <a:pPr>
              <a:buSzPct val="100000"/>
            </a:pPr>
            <a:r>
              <a:rPr lang="en-US" sz="1800" dirty="0">
                <a:solidFill>
                  <a:srgbClr val="333333"/>
                </a:solidFill>
              </a:rPr>
              <a:t>1. Presentation Layer (Frontend)</a:t>
            </a:r>
            <a:endParaRPr lang="en-US" sz="1800" dirty="0"/>
          </a:p>
          <a:p>
            <a:pPr>
              <a:buSzPct val="100000"/>
            </a:pPr>
            <a:r>
              <a:rPr lang="en-US" sz="1800" dirty="0">
                <a:solidFill>
                  <a:srgbClr val="333333"/>
                </a:solidFill>
              </a:rPr>
              <a:t>   • React.js with Vite</a:t>
            </a:r>
            <a:endParaRPr lang="en-US" sz="1800" dirty="0"/>
          </a:p>
          <a:p>
            <a:pPr>
              <a:buSzPct val="100000"/>
            </a:pPr>
            <a:r>
              <a:rPr lang="en-US" sz="1800" dirty="0">
                <a:solidFill>
                  <a:srgbClr val="333333"/>
                </a:solidFill>
              </a:rPr>
              <a:t>   • Tailwind CSS for UI</a:t>
            </a:r>
            <a:endParaRPr lang="en-US" sz="1800" dirty="0"/>
          </a:p>
          <a:p>
            <a:pPr>
              <a:buSzPct val="100000"/>
            </a:pPr>
            <a:endParaRPr lang="en-US" sz="1800" dirty="0"/>
          </a:p>
          <a:p>
            <a:pPr>
              <a:buSzPct val="100000"/>
            </a:pPr>
            <a:r>
              <a:rPr lang="en-US" sz="1800" dirty="0">
                <a:solidFill>
                  <a:srgbClr val="333333"/>
                </a:solidFill>
              </a:rPr>
              <a:t>2. Application Layer (Backend)</a:t>
            </a:r>
            <a:endParaRPr lang="en-US" sz="1800" dirty="0"/>
          </a:p>
          <a:p>
            <a:pPr>
              <a:buSzPct val="100000"/>
            </a:pPr>
            <a:r>
              <a:rPr lang="en-US" sz="1800" dirty="0">
                <a:solidFill>
                  <a:srgbClr val="333333"/>
                </a:solidFill>
              </a:rPr>
              <a:t>   • Node.js &amp; Express.js</a:t>
            </a:r>
            <a:endParaRPr lang="en-US" sz="1800" dirty="0"/>
          </a:p>
          <a:p>
            <a:pPr>
              <a:buSzPct val="100000"/>
            </a:pPr>
            <a:r>
              <a:rPr lang="en-US" sz="1800" dirty="0">
                <a:solidFill>
                  <a:srgbClr val="333333"/>
                </a:solidFill>
              </a:rPr>
              <a:t>   • Custom JWT Authentication Middleware</a:t>
            </a:r>
            <a:endParaRPr lang="en-US" sz="1800" dirty="0"/>
          </a:p>
          <a:p>
            <a:pPr>
              <a:buSzPct val="100000"/>
            </a:pPr>
            <a:endParaRPr lang="en-US" sz="1800" dirty="0"/>
          </a:p>
          <a:p>
            <a:pPr>
              <a:buSzPct val="100000"/>
            </a:pPr>
            <a:r>
              <a:rPr lang="en-US" sz="1800" dirty="0">
                <a:solidFill>
                  <a:srgbClr val="333333"/>
                </a:solidFill>
              </a:rPr>
              <a:t>3. Data Layer (Database)</a:t>
            </a:r>
            <a:endParaRPr lang="en-US" sz="1800" dirty="0"/>
          </a:p>
          <a:p>
            <a:pPr>
              <a:buSzPct val="100000"/>
            </a:pPr>
            <a:r>
              <a:rPr lang="en-US" sz="1800" dirty="0">
                <a:solidFill>
                  <a:srgbClr val="333333"/>
                </a:solidFill>
              </a:rPr>
              <a:t>   • MongoDB &amp; Mongoose ODM</a:t>
            </a:r>
            <a:endParaRPr lang="en-US" sz="1800" dirty="0"/>
          </a:p>
          <a:p>
            <a:pPr>
              <a:buSzPct val="100000"/>
            </a:pPr>
            <a:endParaRPr lang="en-US" sz="18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9E68020-6F78-07EA-207E-8D55396D0F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71738" y="1188720"/>
            <a:ext cx="3972262" cy="382745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91772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3366"/>
                </a:solidFill>
              </a:rPr>
              <a:t>System Design (UML Modeling)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351692" y="2693963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buSzPct val="100000"/>
            </a:pPr>
            <a:r>
              <a:rPr lang="en-US" sz="1800" dirty="0">
                <a:solidFill>
                  <a:srgbClr val="333333"/>
                </a:solidFill>
              </a:rPr>
              <a:t>Our software behavior is strictly mapped using standard UML specifications:</a:t>
            </a:r>
            <a:endParaRPr lang="en-US" sz="1800" dirty="0"/>
          </a:p>
          <a:p>
            <a:pPr>
              <a:buSzPct val="100000"/>
            </a:pPr>
            <a:endParaRPr lang="en-US" sz="1800" dirty="0"/>
          </a:p>
          <a:p>
            <a:pPr>
              <a:buSzPct val="100000"/>
            </a:pPr>
            <a:r>
              <a:rPr lang="en-US" sz="1800" dirty="0">
                <a:solidFill>
                  <a:srgbClr val="333333"/>
                </a:solidFill>
              </a:rPr>
              <a:t>• Use Case Diagram: Enforces isolated roles between Student and Faculty actors.</a:t>
            </a:r>
            <a:endParaRPr lang="en-US" sz="1800" dirty="0"/>
          </a:p>
          <a:p>
            <a:pPr>
              <a:buSzPct val="100000"/>
            </a:pPr>
            <a:r>
              <a:rPr lang="en-US" sz="1800" dirty="0">
                <a:solidFill>
                  <a:srgbClr val="333333"/>
                </a:solidFill>
              </a:rPr>
              <a:t>• Class Diagram: Structures Mongoose schemas (Users, Projects, Milestones).</a:t>
            </a:r>
            <a:endParaRPr lang="en-US" sz="1800" dirty="0"/>
          </a:p>
          <a:p>
            <a:pPr>
              <a:buSzPct val="100000"/>
            </a:pPr>
            <a:r>
              <a:rPr lang="en-US" sz="1800" dirty="0">
                <a:solidFill>
                  <a:srgbClr val="333333"/>
                </a:solidFill>
              </a:rPr>
              <a:t>• Sequence Diagram: Dictates HTTP logic and UI states during auth flows.</a:t>
            </a:r>
            <a:endParaRPr lang="en-US" sz="1800" dirty="0"/>
          </a:p>
          <a:p>
            <a:pPr>
              <a:buSzPct val="100000"/>
            </a:pP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33975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3366"/>
                </a:solidFill>
              </a:rPr>
              <a:t>The Student Workflow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2855741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buSzPct val="100000"/>
            </a:pPr>
            <a:r>
              <a:rPr lang="en-US" sz="1800" dirty="0">
                <a:solidFill>
                  <a:srgbClr val="333333"/>
                </a:solidFill>
              </a:rPr>
              <a:t>The primary actor's journey from genesis to delivery:</a:t>
            </a:r>
            <a:endParaRPr lang="en-US" sz="1800" dirty="0"/>
          </a:p>
          <a:p>
            <a:pPr>
              <a:buSzPct val="100000"/>
            </a:pPr>
            <a:endParaRPr lang="en-US" sz="1800" dirty="0"/>
          </a:p>
          <a:p>
            <a:pPr>
              <a:buSzPct val="100000"/>
            </a:pPr>
            <a:r>
              <a:rPr lang="en-US" sz="1800" dirty="0">
                <a:solidFill>
                  <a:srgbClr val="333333"/>
                </a:solidFill>
              </a:rPr>
              <a:t>• Authentic Registration: Encrypted sessions (Bcrypt + JWT).</a:t>
            </a:r>
            <a:endParaRPr lang="en-US" sz="1800" dirty="0"/>
          </a:p>
          <a:p>
            <a:pPr>
              <a:buSzPct val="100000"/>
            </a:pPr>
            <a:r>
              <a:rPr lang="en-US" sz="1800" dirty="0">
                <a:solidFill>
                  <a:srgbClr val="333333"/>
                </a:solidFill>
              </a:rPr>
              <a:t>• Dynamic Mapping: Creating projects and directly linking registered Faculty guides.</a:t>
            </a:r>
            <a:endParaRPr lang="en-US" sz="1800" dirty="0"/>
          </a:p>
          <a:p>
            <a:pPr>
              <a:buSzPct val="100000"/>
            </a:pPr>
            <a:r>
              <a:rPr lang="en-US" sz="1800" dirty="0">
                <a:solidFill>
                  <a:srgbClr val="333333"/>
                </a:solidFill>
              </a:rPr>
              <a:t>• Sequential Tracking: Adding specific milestones on a timeline.</a:t>
            </a:r>
            <a:endParaRPr lang="en-US" sz="1800" dirty="0"/>
          </a:p>
          <a:p>
            <a:pPr>
              <a:buSzPct val="100000"/>
            </a:pPr>
            <a:r>
              <a:rPr lang="en-US" sz="1800" dirty="0">
                <a:solidFill>
                  <a:srgbClr val="333333"/>
                </a:solidFill>
              </a:rPr>
              <a:t>• Document Archival: Secure Multer uploads mapped strictly to milestones.</a:t>
            </a:r>
            <a:endParaRPr lang="en-US" sz="1800" dirty="0"/>
          </a:p>
          <a:p>
            <a:pPr>
              <a:buSzPct val="100000"/>
            </a:pP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0246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3366"/>
                </a:solidFill>
              </a:rPr>
              <a:t>The Faculty Workflow &amp; Evaluation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34573" y="2904978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buSzPct val="100000"/>
            </a:pPr>
            <a:r>
              <a:rPr lang="en-US" sz="1800" dirty="0">
                <a:solidFill>
                  <a:srgbClr val="333333"/>
                </a:solidFill>
              </a:rPr>
              <a:t>The evaluation loop enforcing project integrity:</a:t>
            </a:r>
            <a:endParaRPr lang="en-US" sz="1800" dirty="0"/>
          </a:p>
          <a:p>
            <a:pPr>
              <a:buSzPct val="100000"/>
            </a:pPr>
            <a:endParaRPr lang="en-US" sz="1800" dirty="0"/>
          </a:p>
          <a:p>
            <a:pPr>
              <a:buSzPct val="100000"/>
            </a:pPr>
            <a:r>
              <a:rPr lang="en-US" sz="1800" dirty="0">
                <a:solidFill>
                  <a:srgbClr val="333333"/>
                </a:solidFill>
              </a:rPr>
              <a:t>• Data Isolation: Faculty A can never access Faculty B's nested group data.</a:t>
            </a:r>
            <a:endParaRPr lang="en-US" sz="1800" dirty="0"/>
          </a:p>
          <a:p>
            <a:pPr>
              <a:buSzPct val="100000"/>
            </a:pPr>
            <a:r>
              <a:rPr lang="en-US" sz="1800" dirty="0">
                <a:solidFill>
                  <a:srgbClr val="333333"/>
                </a:solidFill>
              </a:rPr>
              <a:t>• Dynamic UI: Projects grouped neatly under the names of specific assigned students.</a:t>
            </a:r>
            <a:endParaRPr lang="en-US" sz="1800" dirty="0"/>
          </a:p>
          <a:p>
            <a:pPr>
              <a:buSzPct val="100000"/>
            </a:pPr>
            <a:r>
              <a:rPr lang="en-US" sz="1800" dirty="0">
                <a:solidFill>
                  <a:srgbClr val="333333"/>
                </a:solidFill>
              </a:rPr>
              <a:t>• Evaluation: One-click status updates (In Progress -&gt; Approved).</a:t>
            </a:r>
            <a:endParaRPr lang="en-US" sz="1800" dirty="0"/>
          </a:p>
          <a:p>
            <a:pPr>
              <a:buSzPct val="100000"/>
            </a:pPr>
            <a:r>
              <a:rPr lang="en-US" sz="1800" dirty="0">
                <a:solidFill>
                  <a:srgbClr val="333333"/>
                </a:solidFill>
              </a:rPr>
              <a:t>• Immutable Feedback: Faculty assign letter grades and textual feedback saved permanently on record.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153551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3366"/>
                </a:solidFill>
              </a:rPr>
              <a:t>Software Testing &amp; Quality Assurance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3186332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buSzPct val="100000"/>
            </a:pPr>
            <a:r>
              <a:rPr lang="en-US" sz="1800" dirty="0">
                <a:solidFill>
                  <a:srgbClr val="333333"/>
                </a:solidFill>
              </a:rPr>
              <a:t>Extensive validation verifying functional completion:</a:t>
            </a:r>
            <a:endParaRPr lang="en-US" sz="1800" dirty="0"/>
          </a:p>
          <a:p>
            <a:pPr>
              <a:buSzPct val="100000"/>
            </a:pPr>
            <a:endParaRPr lang="en-US" sz="1800" dirty="0"/>
          </a:p>
          <a:p>
            <a:pPr>
              <a:buSzPct val="100000"/>
            </a:pPr>
            <a:r>
              <a:rPr lang="en-US" sz="1800" dirty="0">
                <a:solidFill>
                  <a:srgbClr val="333333"/>
                </a:solidFill>
              </a:rPr>
              <a:t>• Automated Regression (Selenium): 52 UI Test Cases executing dynamically over Node.js Chrome bindings -&gt; Achieved 96.2% Pass Rate.</a:t>
            </a:r>
            <a:endParaRPr lang="en-US" sz="1800" dirty="0"/>
          </a:p>
          <a:p>
            <a:pPr>
              <a:buSzPct val="100000"/>
            </a:pPr>
            <a:r>
              <a:rPr lang="en-US" sz="1800" dirty="0">
                <a:solidFill>
                  <a:srgbClr val="333333"/>
                </a:solidFill>
              </a:rPr>
              <a:t>• Boundary Checks: Intercepted and patched Multer bypass flaws.</a:t>
            </a:r>
            <a:endParaRPr lang="en-US" sz="1800" dirty="0"/>
          </a:p>
          <a:p>
            <a:pPr>
              <a:buSzPct val="100000"/>
            </a:pPr>
            <a:r>
              <a:rPr lang="en-US" sz="1800" dirty="0">
                <a:solidFill>
                  <a:srgbClr val="333333"/>
                </a:solidFill>
              </a:rPr>
              <a:t>• Performance Testing (Python): System scales to handle 733 REST requests per second natively.</a:t>
            </a:r>
            <a:endParaRPr lang="en-US" sz="1800" dirty="0"/>
          </a:p>
          <a:p>
            <a:pPr>
              <a:buSzPct val="100000"/>
            </a:pP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26942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3366"/>
                </a:solidFill>
              </a:rPr>
              <a:t>Conclusion &amp; Future Scope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2968283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buSzPct val="100000"/>
            </a:pPr>
            <a:r>
              <a:rPr lang="en-US" sz="1800" dirty="0">
                <a:solidFill>
                  <a:srgbClr val="333333"/>
                </a:solidFill>
              </a:rPr>
              <a:t>AcademiTrack successfully digitizes administrative chaos into a streamlined, high-performance application enforcing accurate evaluations.</a:t>
            </a:r>
            <a:endParaRPr lang="en-US" sz="1800" dirty="0"/>
          </a:p>
          <a:p>
            <a:pPr>
              <a:buSzPct val="100000"/>
            </a:pPr>
            <a:endParaRPr lang="en-US" sz="1800" dirty="0"/>
          </a:p>
          <a:p>
            <a:pPr>
              <a:buSzPct val="100000"/>
            </a:pPr>
            <a:r>
              <a:rPr lang="en-US" sz="1800" dirty="0">
                <a:solidFill>
                  <a:srgbClr val="333333"/>
                </a:solidFill>
              </a:rPr>
              <a:t>Future Scope:</a:t>
            </a:r>
            <a:endParaRPr lang="en-US" sz="1800" dirty="0"/>
          </a:p>
          <a:p>
            <a:pPr>
              <a:buSzPct val="100000"/>
            </a:pPr>
            <a:r>
              <a:rPr lang="en-US" sz="1800" dirty="0">
                <a:solidFill>
                  <a:srgbClr val="333333"/>
                </a:solidFill>
              </a:rPr>
              <a:t>• Dedicated University SSO (OAuth2) identity providers.</a:t>
            </a:r>
            <a:endParaRPr lang="en-US" sz="1800" dirty="0"/>
          </a:p>
          <a:p>
            <a:pPr>
              <a:buSzPct val="100000"/>
            </a:pPr>
            <a:r>
              <a:rPr lang="en-US" sz="1800" dirty="0">
                <a:solidFill>
                  <a:srgbClr val="333333"/>
                </a:solidFill>
              </a:rPr>
              <a:t>• Cloud Blob Storage (AWS S3) for massive submission archives.</a:t>
            </a:r>
            <a:endParaRPr lang="en-US" sz="1800" dirty="0"/>
          </a:p>
          <a:p>
            <a:pPr>
              <a:buSzPct val="100000"/>
            </a:pPr>
            <a:r>
              <a:rPr lang="en-US" sz="1800" dirty="0">
                <a:solidFill>
                  <a:srgbClr val="333333"/>
                </a:solidFill>
              </a:rPr>
              <a:t>• Dedicated Dean/HOD analytical dashboard monitoring.</a:t>
            </a:r>
            <a:endParaRPr lang="en-US" sz="1800" dirty="0"/>
          </a:p>
          <a:p>
            <a:pPr>
              <a:buSzPct val="100000"/>
            </a:pPr>
            <a:endParaRPr lang="en-US" sz="1800" dirty="0"/>
          </a:p>
          <a:p>
            <a:pPr>
              <a:buSzPct val="100000"/>
            </a:pPr>
            <a:r>
              <a:rPr lang="en-US" sz="1800" dirty="0">
                <a:solidFill>
                  <a:srgbClr val="333333"/>
                </a:solidFill>
              </a:rPr>
              <a:t>Thank you!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582</Words>
  <Application>Microsoft Office PowerPoint</Application>
  <PresentationFormat>On-screen Show (16:9)</PresentationFormat>
  <Paragraphs>77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1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Vellore Institute of Technology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AcademiTrack Final Presentation</dc:title>
  <dc:subject>Academic Project Management System</dc:subject>
  <dc:creator>Srujan Rajput</dc:creator>
  <cp:lastModifiedBy>Srujan Rajput</cp:lastModifiedBy>
  <cp:revision>2</cp:revision>
  <dcterms:created xsi:type="dcterms:W3CDTF">2026-04-15T16:57:27Z</dcterms:created>
  <dcterms:modified xsi:type="dcterms:W3CDTF">2026-04-15T17:10:38Z</dcterms:modified>
</cp:coreProperties>
</file>